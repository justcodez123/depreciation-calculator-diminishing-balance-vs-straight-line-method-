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AC6B-94DE-4CE6-8491-8577DFA8E9C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CF80-4730-417C-96B9-FEEAA8A3B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63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AC6B-94DE-4CE6-8491-8577DFA8E9C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CF80-4730-417C-96B9-FEEAA8A3B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3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AC6B-94DE-4CE6-8491-8577DFA8E9C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CF80-4730-417C-96B9-FEEAA8A3B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0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AC6B-94DE-4CE6-8491-8577DFA8E9C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CF80-4730-417C-96B9-FEEAA8A3B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17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AC6B-94DE-4CE6-8491-8577DFA8E9C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CF80-4730-417C-96B9-FEEAA8A3B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96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AC6B-94DE-4CE6-8491-8577DFA8E9C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CF80-4730-417C-96B9-FEEAA8A3B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0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AC6B-94DE-4CE6-8491-8577DFA8E9C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CF80-4730-417C-96B9-FEEAA8A3B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1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AC6B-94DE-4CE6-8491-8577DFA8E9C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CF80-4730-417C-96B9-FEEAA8A3B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7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AC6B-94DE-4CE6-8491-8577DFA8E9C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CF80-4730-417C-96B9-FEEAA8A3B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4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AC6B-94DE-4CE6-8491-8577DFA8E9C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CF80-4730-417C-96B9-FEEAA8A3B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48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AC6B-94DE-4CE6-8491-8577DFA8E9C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CF80-4730-417C-96B9-FEEAA8A3B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9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AC6B-94DE-4CE6-8491-8577DFA8E9C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FCF80-4730-417C-96B9-FEEAA8A3B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+mn-lt"/>
              </a:rPr>
              <a:t>Comparative Analysis of Depreciation Methods: Straight-Line vs. Diminishing Balance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09598"/>
          </a:xfrm>
        </p:spPr>
        <p:txBody>
          <a:bodyPr/>
          <a:lstStyle/>
          <a:p>
            <a:r>
              <a:rPr lang="en-US" dirty="0" smtClean="0"/>
              <a:t>Automated Financial Modeling using Excel.</a:t>
            </a:r>
          </a:p>
          <a:p>
            <a:endParaRPr lang="en-US" sz="1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443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Objective</a:t>
            </a:r>
            <a:r>
              <a:rPr lang="en-US" dirty="0" smtClean="0"/>
              <a:t> :</a:t>
            </a:r>
          </a:p>
          <a:p>
            <a:pPr marL="914400" lvl="1" indent="-457200">
              <a:buAutoNum type="arabicPeriod"/>
            </a:pPr>
            <a:r>
              <a:rPr lang="en-US" dirty="0" smtClean="0"/>
              <a:t>To determine the most suitable depreciation strategy based on asset utility and lifespan.</a:t>
            </a:r>
            <a:endParaRPr lang="en-US" dirty="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/>
              <a:t>Depreciation is the systematic allocation of the cost of a tangible asset over its </a:t>
            </a:r>
            <a:r>
              <a:rPr lang="en-US" dirty="0" smtClean="0"/>
              <a:t>useful life.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063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Methodologies &amp;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 Statement </a:t>
            </a:r>
          </a:p>
          <a:p>
            <a:pPr lvl="1"/>
            <a:r>
              <a:rPr lang="en-US" dirty="0" smtClean="0"/>
              <a:t>Comparison of  2 distinct algorithms for asset valuation.	</a:t>
            </a:r>
          </a:p>
          <a:p>
            <a:r>
              <a:rPr lang="en-US" dirty="0" smtClean="0"/>
              <a:t>Method 1 : Straight-Line Method</a:t>
            </a:r>
          </a:p>
          <a:p>
            <a:pPr lvl="1"/>
            <a:r>
              <a:rPr lang="en-US" dirty="0" smtClean="0"/>
              <a:t>Logic : Assumes Consistent utility over time.</a:t>
            </a:r>
          </a:p>
          <a:p>
            <a:pPr lvl="1"/>
            <a:r>
              <a:rPr lang="en-US" dirty="0" smtClean="0"/>
              <a:t>Formula : (Cost – Scrap)/Life	</a:t>
            </a:r>
          </a:p>
          <a:p>
            <a:r>
              <a:rPr lang="en-US" dirty="0" smtClean="0"/>
              <a:t>Method 2 : Diminishing Balance Method</a:t>
            </a:r>
          </a:p>
          <a:p>
            <a:pPr lvl="1"/>
            <a:r>
              <a:rPr lang="en-US" dirty="0" smtClean="0"/>
              <a:t>Logic : Assumes rapid loss of value (obsolescence) in early years.</a:t>
            </a:r>
          </a:p>
          <a:p>
            <a:pPr lvl="1"/>
            <a:r>
              <a:rPr lang="en-US" dirty="0" smtClean="0"/>
              <a:t>Formula : Book Value * Rate	</a:t>
            </a:r>
          </a:p>
        </p:txBody>
      </p:sp>
    </p:spTree>
    <p:extLst>
      <p:ext uri="{BB962C8B-B14F-4D97-AF65-F5344CB8AC3E}">
        <p14:creationId xmlns:p14="http://schemas.microsoft.com/office/powerpoint/2010/main" val="2232071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Data Model (Stimulation)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016" y="1690688"/>
            <a:ext cx="8296433" cy="4031239"/>
          </a:xfrm>
        </p:spPr>
      </p:pic>
    </p:spTree>
    <p:extLst>
      <p:ext uri="{BB962C8B-B14F-4D97-AF65-F5344CB8AC3E}">
        <p14:creationId xmlns:p14="http://schemas.microsoft.com/office/powerpoint/2010/main" val="271602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 Observations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Key Data Points </a:t>
            </a:r>
          </a:p>
          <a:p>
            <a:pPr lvl="1"/>
            <a:r>
              <a:rPr lang="en-US" dirty="0" smtClean="0"/>
              <a:t>Asset Cost : $ 51500</a:t>
            </a:r>
          </a:p>
          <a:p>
            <a:pPr lvl="1"/>
            <a:r>
              <a:rPr lang="en-US" dirty="0" smtClean="0"/>
              <a:t>Scrap Value : $ 2000</a:t>
            </a:r>
          </a:p>
          <a:p>
            <a:pPr lvl="1"/>
            <a:r>
              <a:rPr lang="en-US" dirty="0" smtClean="0"/>
              <a:t>Life Span : 10 Years	</a:t>
            </a:r>
          </a:p>
          <a:p>
            <a:r>
              <a:rPr lang="en-US" dirty="0" smtClean="0"/>
              <a:t>Observations</a:t>
            </a:r>
          </a:p>
          <a:p>
            <a:pPr lvl="1"/>
            <a:r>
              <a:rPr lang="en-US" dirty="0" smtClean="0"/>
              <a:t>Year 1 closing balance for both : </a:t>
            </a:r>
          </a:p>
          <a:p>
            <a:pPr marL="457200" lvl="1" indent="0">
              <a:buNone/>
            </a:pPr>
            <a:r>
              <a:rPr lang="en-US" dirty="0" smtClean="0"/>
              <a:t> 	1 . SL : $ 46,550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2. DB :$ 37,337</a:t>
            </a:r>
          </a:p>
          <a:p>
            <a:pPr marL="457200" lvl="1" indent="0">
              <a:buNone/>
            </a:pPr>
            <a:r>
              <a:rPr lang="en-US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78357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Comparative Visual Analysis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1801091"/>
            <a:ext cx="11610110" cy="4405745"/>
          </a:xfrm>
        </p:spPr>
      </p:pic>
    </p:spTree>
    <p:extLst>
      <p:ext uri="{BB962C8B-B14F-4D97-AF65-F5344CB8AC3E}">
        <p14:creationId xmlns:p14="http://schemas.microsoft.com/office/powerpoint/2010/main" val="125103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Comparative Visual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Analysis of the Graph  </a:t>
            </a:r>
          </a:p>
          <a:p>
            <a:pPr lvl="1"/>
            <a:r>
              <a:rPr lang="en-US" dirty="0" smtClean="0"/>
              <a:t>The SL Line is linear and predictable.</a:t>
            </a:r>
          </a:p>
          <a:p>
            <a:pPr lvl="1"/>
            <a:r>
              <a:rPr lang="en-US" dirty="0" smtClean="0"/>
              <a:t>The DB Line is exponential, showing a steep decline in Years 1-3.</a:t>
            </a:r>
          </a:p>
          <a:p>
            <a:pPr lvl="1"/>
            <a:r>
              <a:rPr lang="en-US" dirty="0" smtClean="0"/>
              <a:t>Insights : The Crossover Point (Where lines intersects), indicates where assets shift from high value to Maintenance mode.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21032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Findings and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Finding 1 (Total Cost)</a:t>
            </a:r>
          </a:p>
          <a:p>
            <a:pPr lvl="1"/>
            <a:r>
              <a:rPr lang="en-US" dirty="0" smtClean="0"/>
              <a:t>Both methods result in the </a:t>
            </a:r>
            <a:r>
              <a:rPr lang="en-US" b="1" dirty="0" smtClean="0"/>
              <a:t>exact same</a:t>
            </a:r>
            <a:r>
              <a:rPr lang="en-US" dirty="0" smtClean="0"/>
              <a:t> total depreciation expense over the full life span ($49,500). The difference is only </a:t>
            </a:r>
            <a:r>
              <a:rPr lang="en-US" i="1" dirty="0" smtClean="0"/>
              <a:t>when</a:t>
            </a:r>
            <a:r>
              <a:rPr lang="en-US" dirty="0" smtClean="0"/>
              <a:t> the expense is recognize	</a:t>
            </a:r>
            <a:r>
              <a:rPr lang="en-US" dirty="0" smtClean="0"/>
              <a:t>d.</a:t>
            </a:r>
            <a:endParaRPr lang="en-US" dirty="0" smtClean="0"/>
          </a:p>
          <a:p>
            <a:r>
              <a:rPr lang="en-US" dirty="0" smtClean="0"/>
              <a:t>Finding </a:t>
            </a:r>
            <a:r>
              <a:rPr lang="en-US" dirty="0"/>
              <a:t>2</a:t>
            </a:r>
            <a:r>
              <a:rPr lang="en-US" dirty="0" smtClean="0"/>
              <a:t> : Cash-Flow</a:t>
            </a:r>
          </a:p>
          <a:p>
            <a:pPr lvl="1"/>
            <a:r>
              <a:rPr lang="en-US" dirty="0" smtClean="0"/>
              <a:t>DB Method : Front-loads the expense. Good for reducing tax liability in early profitable years.</a:t>
            </a:r>
          </a:p>
          <a:p>
            <a:pPr lvl="1"/>
            <a:r>
              <a:rPr lang="en-US" dirty="0" smtClean="0"/>
              <a:t>SL Method : Smooths the expense. Good for consistent profit reporting.	</a:t>
            </a:r>
          </a:p>
          <a:p>
            <a:pPr marL="0" indent="0">
              <a:buNone/>
            </a:pPr>
            <a:r>
              <a:rPr lang="en-US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9647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and Actionable Recommendation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When to use Diminishing Balance Method</a:t>
            </a:r>
          </a:p>
          <a:p>
            <a:pPr lvl="1"/>
            <a:r>
              <a:rPr lang="en-US" dirty="0" smtClean="0"/>
              <a:t>Recommendation : </a:t>
            </a:r>
            <a:r>
              <a:rPr lang="en-US" dirty="0" smtClean="0"/>
              <a:t>Use when </a:t>
            </a:r>
            <a:r>
              <a:rPr lang="en-US" dirty="0" smtClean="0"/>
              <a:t>assets </a:t>
            </a:r>
            <a:r>
              <a:rPr lang="en-US" dirty="0" smtClean="0"/>
              <a:t>are prone </a:t>
            </a:r>
            <a:r>
              <a:rPr lang="en-US" dirty="0" smtClean="0"/>
              <a:t>to rapid obsolescence (Laptops, Vehicles, Machinery).</a:t>
            </a:r>
          </a:p>
          <a:p>
            <a:pPr lvl="1"/>
            <a:r>
              <a:rPr lang="en-US" dirty="0" smtClean="0"/>
              <a:t>Why : Matches the expense to the period of highest efficiency and value.</a:t>
            </a:r>
          </a:p>
          <a:p>
            <a:r>
              <a:rPr lang="en-US" dirty="0" smtClean="0"/>
              <a:t>When to use Straight line Method</a:t>
            </a:r>
          </a:p>
          <a:p>
            <a:pPr lvl="1"/>
            <a:r>
              <a:rPr lang="en-US" dirty="0" smtClean="0"/>
              <a:t>Recommendation : Use for asset with consistent utility.</a:t>
            </a:r>
          </a:p>
          <a:p>
            <a:pPr lvl="1"/>
            <a:r>
              <a:rPr lang="en-US" dirty="0" smtClean="0"/>
              <a:t>Why : Simple calculations, matches consistent usage.</a:t>
            </a:r>
          </a:p>
          <a:p>
            <a:pPr marL="457200" lvl="1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777280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249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Comparative Analysis of Depreciation Methods: Straight-Line vs. Diminishing Balance.</vt:lpstr>
      <vt:lpstr>Introduction </vt:lpstr>
      <vt:lpstr>Methodologies &amp; Approaches</vt:lpstr>
      <vt:lpstr>The Data Model (Stimulation)</vt:lpstr>
      <vt:lpstr>Data Model Observations :</vt:lpstr>
      <vt:lpstr>Comparative Visual Analysis</vt:lpstr>
      <vt:lpstr>Comparative Visual Analysis</vt:lpstr>
      <vt:lpstr>Key Findings and Insights</vt:lpstr>
      <vt:lpstr>Conclusion and Actionable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Depreciation Methods: Straight-Line vs. Diminishing Balance.</dc:title>
  <dc:creator>Ashish</dc:creator>
  <cp:lastModifiedBy>Ashish</cp:lastModifiedBy>
  <cp:revision>7</cp:revision>
  <dcterms:created xsi:type="dcterms:W3CDTF">2026-01-22T19:01:50Z</dcterms:created>
  <dcterms:modified xsi:type="dcterms:W3CDTF">2026-01-27T10:58:52Z</dcterms:modified>
</cp:coreProperties>
</file>