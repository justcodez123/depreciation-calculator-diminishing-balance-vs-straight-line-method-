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00400"/>
            <a:ext cx="9004340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Depreciation Calculator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649153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4656773"/>
            <a:ext cx="347663" cy="347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0040" y="4632246"/>
            <a:ext cx="254543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Aashish Kaaley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412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Comparative Analysis of Depreciation Methods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52411"/>
            <a:ext cx="827412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Straight-Line vs. Diminishing Balance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9595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explore how Straight-Line and Diminishing Balance methods impact asset valuation and financial statements, particularly in automated financial models like those built in Excel.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3875"/>
            <a:ext cx="5787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&amp; Scope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63628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636282"/>
            <a:ext cx="30352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Depreciation?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126700"/>
            <a:ext cx="330815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Allocation: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It's the process of allocating the cost of a tangible asset over its useful life, reflecting its gradual reduction in value due to wear and tear, obsolescence, or usage.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63628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26362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3126700"/>
            <a:ext cx="3308152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Impact: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Depreciation helps match an asset's cost to the revenue it helps generate. It significantly influences a company's balance sheet, income statement, and ultimately, its tax liabilities and deductions.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63628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26362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126700"/>
            <a:ext cx="3308152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Comparison: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Our goal is to compare the financial implications of the Straight-Line (SL) and Diminishing Balance (DB) depreciation methods, guiding businesses in selecting the most appropriate approach for their assets and financial strategy.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3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1487" y="3083957"/>
            <a:ext cx="6690717" cy="53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Baseline Data Model: Key Inputs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1421487" y="3810595"/>
            <a:ext cx="1178742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accurately compare depreciation methods, we establish a consistent set of initial assumptions for our asset.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21487" y="4280178"/>
            <a:ext cx="2826306" cy="563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$450K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766887" y="5025628"/>
            <a:ext cx="2135386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Asset Cost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21487" y="5369719"/>
            <a:ext cx="282630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purchase price.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08527" y="4280178"/>
            <a:ext cx="2826306" cy="563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$50K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753928" y="5025628"/>
            <a:ext cx="2135386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Additional Costs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408527" y="5369719"/>
            <a:ext cx="282630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Transportation and installation.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95567" y="4280178"/>
            <a:ext cx="2826306" cy="563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$500K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7740967" y="5025628"/>
            <a:ext cx="2135386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Asset Price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395567" y="5369719"/>
            <a:ext cx="282630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depreciable amount.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382607" y="4280178"/>
            <a:ext cx="2826306" cy="563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$50K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10728008" y="5025628"/>
            <a:ext cx="2135386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Scrap Value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382607" y="5369719"/>
            <a:ext cx="282630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value at end of life.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02047" y="5951934"/>
            <a:ext cx="2826306" cy="563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6247448" y="6697385"/>
            <a:ext cx="2135386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Life Span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902047" y="7041475"/>
            <a:ext cx="282630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 of estimated useful life.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8631"/>
            <a:ext cx="77134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 1: Straight-Line (SL)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91038"/>
            <a:ext cx="6407944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848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Concept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33875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consistent, uniform annual depreciation expense over the asset's useful life.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591038"/>
            <a:ext cx="6408063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848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Formula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338751"/>
            <a:ext cx="589347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(Asset Price - Scrap Value) / Estimated Life Span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48664"/>
            <a:ext cx="6407944" cy="2252305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4805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Model Output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296376"/>
            <a:ext cx="589335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Depreciation: $450,000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Expense: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$45,000 every year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Depreciation Percentage: 9%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48664"/>
            <a:ext cx="6408063" cy="2252305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805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 &amp; Cons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29637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to calculate, but may not reflect the actual loss of value for assets with rapid obsolescence.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1748"/>
            <a:ext cx="99265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 2: Diminishing Balance (DB)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14155"/>
            <a:ext cx="6407944" cy="3284458"/>
          </a:xfrm>
          <a:prstGeom prst="roundRect">
            <a:avLst>
              <a:gd name="adj" fmla="val 445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814155"/>
            <a:ext cx="121920" cy="3284458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071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Allocation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561868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Assigns a larger depreciation expense in the asset's early years, gradually decreasing over its useful life.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1814155"/>
            <a:ext cx="6408063" cy="3284458"/>
          </a:xfrm>
          <a:prstGeom prst="roundRect">
            <a:avLst>
              <a:gd name="adj" fmla="val 445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1814155"/>
            <a:ext cx="121920" cy="3284458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071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Calculation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7282" y="2680930"/>
            <a:ext cx="5802035" cy="1179433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765971" y="2680930"/>
            <a:ext cx="5824657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9458" y="2907744"/>
            <a:ext cx="52576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(Book Value at Beginning of Year) * (Depreciation Rate)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777282" y="4115514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method requires calculating the remaining book value each period, leading to a varying expense.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325428"/>
            <a:ext cx="6407944" cy="2252305"/>
          </a:xfrm>
          <a:prstGeom prst="roundRect">
            <a:avLst>
              <a:gd name="adj" fmla="val 649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310" y="5325428"/>
            <a:ext cx="121920" cy="2252305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2524" y="55827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Results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2524" y="6073140"/>
            <a:ext cx="58019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Depreciation Rate: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20.57%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Expense: $102,836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2 Expense: $81,685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325428"/>
            <a:ext cx="6408063" cy="2252305"/>
          </a:xfrm>
          <a:prstGeom prst="roundRect">
            <a:avLst>
              <a:gd name="adj" fmla="val 649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8067" y="5325428"/>
            <a:ext cx="121920" cy="2252305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7282" y="5582722"/>
            <a:ext cx="3018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Implications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7282" y="6073140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reflects accelerated loss of value for assets, but involves more complex, iterative calculations compared to straight-line.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3091" y="637103"/>
            <a:ext cx="4563547" cy="40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Comparative Visual Analysis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2823091" y="1193363"/>
            <a:ext cx="2033771" cy="255260"/>
          </a:xfrm>
          <a:prstGeom prst="roundRect">
            <a:avLst>
              <a:gd name="adj" fmla="val 5015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5838" y="1250067"/>
            <a:ext cx="141852" cy="1418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94975" y="1228827"/>
            <a:ext cx="1679140" cy="18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Diminishing Balance (DB)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4951430" y="1193363"/>
            <a:ext cx="1480399" cy="255260"/>
          </a:xfrm>
          <a:prstGeom prst="roundRect">
            <a:avLst>
              <a:gd name="adj" fmla="val 5015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177" y="1250067"/>
            <a:ext cx="141852" cy="1418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313" y="1228827"/>
            <a:ext cx="1125768" cy="18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Straight-Line (SL)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091" y="1566834"/>
            <a:ext cx="8983980" cy="47284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83195" y="1495908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500k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2783195" y="1495908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500k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3624852" y="1852312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455k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3624852" y="2310489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397k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4466509" y="2208716"/>
            <a:ext cx="363497" cy="22459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410k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4466509" y="2957489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315k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5308166" y="2565120"/>
            <a:ext cx="363497" cy="22459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365k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5308166" y="3472263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250k</a:t>
            </a:r>
            <a:endParaRPr lang="en-US" sz="650" dirty="0"/>
          </a:p>
        </p:txBody>
      </p:sp>
      <p:sp>
        <p:nvSpPr>
          <p:cNvPr id="18" name="Text 13"/>
          <p:cNvSpPr/>
          <p:nvPr/>
        </p:nvSpPr>
        <p:spPr>
          <a:xfrm>
            <a:off x="6149823" y="2921524"/>
            <a:ext cx="363496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320k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6149823" y="3880306"/>
            <a:ext cx="363496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199k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6991480" y="3277928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275k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6991480" y="4204395"/>
            <a:ext cx="363497" cy="22459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650" dirty="0"/>
          </a:p>
        </p:txBody>
      </p:sp>
      <p:sp>
        <p:nvSpPr>
          <p:cNvPr id="22" name="Text 17"/>
          <p:cNvSpPr/>
          <p:nvPr/>
        </p:nvSpPr>
        <p:spPr>
          <a:xfrm>
            <a:off x="7833138" y="3634331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230k</a:t>
            </a:r>
            <a:endParaRPr lang="en-US" sz="650" dirty="0"/>
          </a:p>
        </p:txBody>
      </p:sp>
      <p:sp>
        <p:nvSpPr>
          <p:cNvPr id="23" name="Text 18"/>
          <p:cNvSpPr/>
          <p:nvPr/>
        </p:nvSpPr>
        <p:spPr>
          <a:xfrm>
            <a:off x="7833138" y="4461830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126k</a:t>
            </a:r>
            <a:endParaRPr lang="en-US" sz="650" dirty="0"/>
          </a:p>
        </p:txBody>
      </p:sp>
      <p:sp>
        <p:nvSpPr>
          <p:cNvPr id="24" name="Text 19"/>
          <p:cNvSpPr/>
          <p:nvPr/>
        </p:nvSpPr>
        <p:spPr>
          <a:xfrm>
            <a:off x="8674794" y="3990735"/>
            <a:ext cx="363497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185k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8657339" y="4666327"/>
            <a:ext cx="398406" cy="22459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99.7k</a:t>
            </a:r>
            <a:endParaRPr lang="en-US" sz="650" dirty="0"/>
          </a:p>
        </p:txBody>
      </p:sp>
      <p:sp>
        <p:nvSpPr>
          <p:cNvPr id="26" name="Text 21"/>
          <p:cNvSpPr/>
          <p:nvPr/>
        </p:nvSpPr>
        <p:spPr>
          <a:xfrm>
            <a:off x="9516452" y="4347139"/>
            <a:ext cx="363496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140k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9498997" y="4829037"/>
            <a:ext cx="398405" cy="22459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79.2k</a:t>
            </a:r>
            <a:endParaRPr lang="en-US" sz="650" dirty="0"/>
          </a:p>
        </p:txBody>
      </p:sp>
      <p:sp>
        <p:nvSpPr>
          <p:cNvPr id="28" name="Text 23"/>
          <p:cNvSpPr/>
          <p:nvPr/>
        </p:nvSpPr>
        <p:spPr>
          <a:xfrm>
            <a:off x="10395233" y="4703544"/>
            <a:ext cx="289247" cy="22459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95k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10340654" y="4957786"/>
            <a:ext cx="398405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62.9k</a:t>
            </a:r>
            <a:endParaRPr lang="en-US" sz="650" dirty="0"/>
          </a:p>
        </p:txBody>
      </p:sp>
      <p:sp>
        <p:nvSpPr>
          <p:cNvPr id="30" name="Text 25"/>
          <p:cNvSpPr/>
          <p:nvPr/>
        </p:nvSpPr>
        <p:spPr>
          <a:xfrm>
            <a:off x="11236891" y="5059947"/>
            <a:ext cx="289246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50k</a:t>
            </a:r>
            <a:endParaRPr lang="en-US" sz="650" dirty="0"/>
          </a:p>
        </p:txBody>
      </p:sp>
      <p:sp>
        <p:nvSpPr>
          <p:cNvPr id="31" name="Text 26"/>
          <p:cNvSpPr/>
          <p:nvPr/>
        </p:nvSpPr>
        <p:spPr>
          <a:xfrm>
            <a:off x="11236891" y="5059947"/>
            <a:ext cx="289246" cy="22460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50k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2823091" y="6308527"/>
            <a:ext cx="8984218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line chart illustrates how the book value of our asset declines over its 10-year lifespan under both the Straight-Line (SL) and Diminishing Balance (DB) depreciation methods.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2823091" y="6720483"/>
            <a:ext cx="8984218" cy="871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 Trajectory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shows a consistent, linear reduction in value of $45,000 each year, reaching the $50,000 scrap value precisely at year 10.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C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Trajectory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exhibits an exponential curve, with over $180,000 of value depreciated in the first two years. This aggressive early depreciation gradually flattens out, mirroring the faster decay of value often seen in new assets.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around year 7, where the diminishing balance curve falls below the straight-line, highlighting how the DB method allocates more depreciation earlier in the asset's life.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07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231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336565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401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Cost Equality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891439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methods resulted in the exact same total depreciation ($450,000) over 10 years, leaving a final book value equal to the scrap value ($50,000).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33231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0963" y="336565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73008" y="3401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Timing of Expense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3891439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Diminishing Balance (DB) method front-loads the financial expense, which can be highly beneficial for early tax deductions.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33231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63065" y="336565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15111" y="3401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 4 Benchmark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15111" y="3891439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Year 4, the DB method shows a significantly lower remaining book value than the Straight-Line (SL) method, perfectly modeling the reality of obsolescence.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840"/>
            <a:ext cx="9275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Conclusions &amp; Recommendations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11824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968710"/>
            <a:ext cx="36072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to use Straight-Line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459129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assets providing consistent utility over time, like office furniture or commercial buildings, ensuring a predictable annual depreciation expense.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11824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968710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to use Diminishing Balance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813459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high-performance assets that rapidly lose value or become obsolete quickly, such as IT infrastructure, laptops, and fleet vehicles.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11824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968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Choice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459129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methods offer distinct merits. The optimal choice depends on the asset's nature and your business's financial objectives and tax strategy.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625691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i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!</a:t>
            </a:r>
            <a:endParaRPr lang="en-US" sz="6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2026-04-01T14:53:07Z</dcterms:created>
  <dcterms:modified xsi:type="dcterms:W3CDTF">2026-04-01T14:53:07Z</dcterms:modified>
</cp:coreProperties>
</file>